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302" r:id="rId6"/>
    <p:sldId id="303" r:id="rId7"/>
    <p:sldId id="301" r:id="rId8"/>
    <p:sldId id="308" r:id="rId9"/>
    <p:sldId id="309" r:id="rId10"/>
    <p:sldId id="310" r:id="rId11"/>
    <p:sldId id="307" r:id="rId12"/>
    <p:sldId id="300" r:id="rId13"/>
    <p:sldId id="311" r:id="rId14"/>
    <p:sldId id="28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296" userDrawn="1">
          <p15:clr>
            <a:srgbClr val="A4A3A4"/>
          </p15:clr>
        </p15:guide>
        <p15:guide id="2" pos="384" userDrawn="1">
          <p15:clr>
            <a:srgbClr val="A4A3A4"/>
          </p15:clr>
        </p15:guide>
        <p15:guide id="3" orient="horz" pos="528" userDrawn="1">
          <p15:clr>
            <a:srgbClr val="A4A3A4"/>
          </p15:clr>
        </p15:guide>
        <p15:guide id="4" orient="horz" pos="3552" userDrawn="1">
          <p15:clr>
            <a:srgbClr val="A4A3A4"/>
          </p15:clr>
        </p15:guide>
        <p15:guide id="5" orient="horz" pos="768" userDrawn="1">
          <p15:clr>
            <a:srgbClr val="A4A3A4"/>
          </p15:clr>
        </p15:guide>
        <p15:guide id="7" pos="4032" userDrawn="1">
          <p15:clr>
            <a:srgbClr val="A4A3A4"/>
          </p15:clr>
        </p15:guide>
        <p15:guide id="9" pos="3648" userDrawn="1">
          <p15:clr>
            <a:srgbClr val="A4A3A4"/>
          </p15:clr>
        </p15:guide>
        <p15:guide id="10" orient="horz" pos="1536" userDrawn="1">
          <p15:clr>
            <a:srgbClr val="A4A3A4"/>
          </p15:clr>
        </p15:guide>
        <p15:guide id="11" orient="horz" pos="18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67F975-8532-47F9-AE8C-9026753458D9}" v="54" dt="2026-06-13T16:34:00.8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7628" autoAdjust="0"/>
    <p:restoredTop sz="95701"/>
  </p:normalViewPr>
  <p:slideViewPr>
    <p:cSldViewPr>
      <p:cViewPr varScale="1">
        <p:scale>
          <a:sx n="69" d="100"/>
          <a:sy n="69" d="100"/>
        </p:scale>
        <p:origin x="77" y="562"/>
      </p:cViewPr>
      <p:guideLst>
        <p:guide pos="7296"/>
        <p:guide pos="384"/>
        <p:guide orient="horz" pos="528"/>
        <p:guide orient="horz" pos="3552"/>
        <p:guide orient="horz" pos="768"/>
        <p:guide pos="4032"/>
        <p:guide pos="3648"/>
        <p:guide orient="horz" pos="1536"/>
        <p:guide orient="horz" pos="18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88E34-8C8C-8747-BADB-40E1ACC00129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1E5FCA-B2DD-C941-A2C1-6389394334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896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E5FCA-B2DD-C941-A2C1-63893943348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00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734DBF-D33A-9B28-288C-C2DAB9E541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anchor="t">
            <a:noAutofit/>
          </a:bodyPr>
          <a:lstStyle>
            <a:lvl1pPr algn="l">
              <a:defRPr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4901184"/>
            <a:ext cx="10040112" cy="1280160"/>
          </a:xfrm>
        </p:spPr>
        <p:txBody>
          <a:bodyPr/>
          <a:lstStyle>
            <a:lvl1pPr marL="0" indent="0" algn="l">
              <a:buNone/>
              <a:defRPr sz="2400" b="1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1D3B0F0-DE71-18AB-7957-4CFA29C3A3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857290"/>
            <a:ext cx="5797296" cy="60007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04770F-E995-EF98-B4D1-9F13733EEF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07199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 b="1" spc="2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24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24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24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24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844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0328C38-4E83-27EA-9D01-DDDF734988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70576" y="3428234"/>
            <a:ext cx="6821424" cy="34297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70B91D-A39E-3D53-DBBB-DF836D19BE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4654518" cy="5239512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16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504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EC1861-1570-5A6A-D3BA-4A17F008A5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0B0FF2F-3458-EA78-83DC-46FB2E5CE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anchor="t">
            <a:noAutofit/>
          </a:bodyPr>
          <a:lstStyle>
            <a:lvl1pPr algn="l">
              <a:defRPr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C93615E-193E-5253-6EE0-EC01791E3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4901184"/>
            <a:ext cx="10040112" cy="1280160"/>
          </a:xfrm>
        </p:spPr>
        <p:txBody>
          <a:bodyPr/>
          <a:lstStyle>
            <a:lvl1pPr marL="0" indent="0" algn="l">
              <a:buNone/>
              <a:defRPr sz="2400" b="1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437D9B2-AE86-9092-7072-0F717E3CA8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655535"/>
            <a:ext cx="4727448" cy="32024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F7E0A5-7E8E-4A90-B415-12984C7AB24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48245" y="0"/>
            <a:ext cx="5643755" cy="2313432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16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802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FA7995-D0F4-05F2-CDF1-463407E3BA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31909" y="0"/>
            <a:ext cx="5160091" cy="40416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2D768B-E662-B315-7576-313DFCE2AB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127248"/>
            <a:ext cx="4162200" cy="37307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7" y="2441448"/>
            <a:ext cx="10972800" cy="3044952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390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8303F0-A6CC-605A-D08C-4E4ED07C2F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4196903" cy="3611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4458FB-E7BB-F476-4A31-9C5AA406E2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02680" y="4079057"/>
            <a:ext cx="5989320" cy="2778943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3240" y="2651760"/>
            <a:ext cx="6309360" cy="1580714"/>
          </a:xfrm>
        </p:spPr>
        <p:txBody>
          <a:bodyPr lIns="91440" rIns="91440" anchor="t"/>
          <a:lstStyle>
            <a:lvl1pPr algn="l">
              <a:lnSpc>
                <a:spcPct val="100000"/>
              </a:lnSpc>
              <a:defRPr sz="2800" cap="none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138E8D-4D76-2023-4B97-8ACB8894C5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240" y="4232475"/>
            <a:ext cx="5775960" cy="333945"/>
          </a:xfrm>
        </p:spPr>
        <p:txBody>
          <a:bodyPr/>
          <a:lstStyle>
            <a:lvl1pPr marL="0" indent="0">
              <a:buNone/>
              <a:defRPr sz="1800" spc="2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1FFE415-7AFC-D826-1BD1-1993DED3B0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37922" y="3591339"/>
            <a:ext cx="1171575" cy="2387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7000" b="1" cap="all" spc="300" dirty="0">
                <a:ln w="28575">
                  <a:solidFill>
                    <a:schemeClr val="tx1"/>
                  </a:solidFill>
                </a:ln>
                <a:noFill/>
                <a:latin typeface="+mj-lt"/>
                <a:ea typeface="+mj-ea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”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962DFC0-ADB3-684B-6F72-9C45BB48C2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9261" y="1982216"/>
            <a:ext cx="1171575" cy="2386584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7000" b="1" cap="all" spc="300" dirty="0">
                <a:ln w="28575">
                  <a:solidFill>
                    <a:schemeClr val="tx1"/>
                  </a:solidFill>
                </a:ln>
                <a:noFill/>
                <a:latin typeface="+mj-lt"/>
                <a:ea typeface="+mj-ea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330879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C6FB24-160F-388E-8450-E5C970E243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764792"/>
            <a:ext cx="5359935" cy="50932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AF7F25-1C65-DB7F-9FA3-300318BD4B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62085" y="0"/>
            <a:ext cx="2929915" cy="2752344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DCE0745D-AFE6-DE6D-B026-1FF13F34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0120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956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8956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30752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29588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29588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64808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3644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63644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98864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97700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97700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3C6C7E-F363-1F17-B288-D4D45B87028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6D4091-312C-81B9-BAF6-5E0D6F665E5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6A3FD7E-DF96-B9E4-8D70-DA62CC3390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766265"/>
            <a:ext cx="5358384" cy="5091735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DCE0745D-AFE6-DE6D-B026-1FF13F34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28">
            <a:extLst>
              <a:ext uri="{FF2B5EF4-FFF2-40B4-BE49-F238E27FC236}">
                <a16:creationId xmlns:a16="http://schemas.microsoft.com/office/drawing/2014/main" id="{739AFCF1-55F0-974F-0F5C-34444B290B5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7CF7DE5-8E6D-2C2C-A514-BAB6D4B6FF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993392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DBA744D6-401F-C995-EF58-BD24A0DD8581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1993392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18688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18688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B1201CED-247A-16CA-9F03-BF32393D3B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18688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2D5FA954-036C-191F-7040-1848AB2BE3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18688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4745736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Picture Placeholder 23">
            <a:extLst>
              <a:ext uri="{FF2B5EF4-FFF2-40B4-BE49-F238E27FC236}">
                <a16:creationId xmlns:a16="http://schemas.microsoft.com/office/drawing/2014/main" id="{8CFBAF86-D36B-F789-2C9C-78C6830B13C9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4745736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6787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66787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6E32CE61-2D9B-C245-0D18-C33760B0853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966787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E4068D0A-21CD-897C-9CC1-0BFDAABBD4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966787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7498080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C110D526-1AE4-5106-E956-0B2ED3A4D4BC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7498080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32520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32520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3858F91A-46AA-AF23-2716-3B2B678BBE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32520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EBC002F6-7435-833F-0E8B-30A53B0755A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32520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0250424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2CBF8435-BD05-F386-4E6E-F2B6F6894FD7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10250424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3C6C7E-F363-1F17-B288-D4D45B87028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6D4091-312C-81B9-BAF6-5E0D6F665E5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523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345C5D8-082A-AC27-3801-7A6EC37519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09"/>
          <a:stretch/>
        </p:blipFill>
        <p:spPr>
          <a:xfrm>
            <a:off x="0" y="0"/>
            <a:ext cx="5467552" cy="23500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31883F-9B23-B442-5F02-C2D25BB37C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41236" y="1234440"/>
            <a:ext cx="4950764" cy="56235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3127248"/>
            <a:ext cx="2029968" cy="2514600"/>
          </a:xfrm>
          <a:solidFill>
            <a:schemeClr val="accent6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843784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843784" y="3127248"/>
            <a:ext cx="2029968" cy="2514600"/>
          </a:xfrm>
          <a:solidFill>
            <a:schemeClr val="accent5">
              <a:alpha val="3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A48939F-0CF9-9CBD-F606-7A4850B910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84064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693BC756-2B97-9751-B879-03B6F1C405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84064" y="3127248"/>
            <a:ext cx="2029968" cy="2514600"/>
          </a:xfr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843F725B-A33F-7FB2-E5C4-96EA15466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15200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D9DD0DA7-5A1E-5312-178F-13561EF7C23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315200" y="3127248"/>
            <a:ext cx="2029968" cy="2514600"/>
          </a:xfrm>
          <a:solidFill>
            <a:schemeClr val="accent1"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FBC3880-98AC-466C-7AD1-FDC8B395870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6336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4965100-8EF5-0264-CEE5-BD5BF19016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546336" y="3127248"/>
            <a:ext cx="2029968" cy="2514600"/>
          </a:xfr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653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CC3D06-2435-B655-8AA5-11CCBBEF19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62234" y="0"/>
            <a:ext cx="3429766" cy="68214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5D1E9421-BC85-99CB-EB40-1863FA6227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-25907" y="3072704"/>
            <a:ext cx="1783080" cy="512064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47BABAF8-5220-1E24-CE43-927FCCA269A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46218" y="2432434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F1D095F8-4552-1F88-C37B-99775B68AC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6200000">
            <a:off x="2196136" y="4517644"/>
            <a:ext cx="1783080" cy="512064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4C4BFA3E-7B57-DCDD-4EA6-16C64A3756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83307" y="3882136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3">
            <a:extLst>
              <a:ext uri="{FF2B5EF4-FFF2-40B4-BE49-F238E27FC236}">
                <a16:creationId xmlns:a16="http://schemas.microsoft.com/office/drawing/2014/main" id="{C65BF0DD-74C0-E055-CCAC-600751F517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4418179" y="3067943"/>
            <a:ext cx="1783080" cy="512064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25927394-D1A0-C084-C689-F7A4EEE924C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89586" y="2432435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3">
            <a:extLst>
              <a:ext uri="{FF2B5EF4-FFF2-40B4-BE49-F238E27FC236}">
                <a16:creationId xmlns:a16="http://schemas.microsoft.com/office/drawing/2014/main" id="{08F0F1F2-0D4E-95EA-349B-D734163FD5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6640222" y="4517644"/>
            <a:ext cx="1783080" cy="512064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B322E7EB-0174-5A8C-5BE3-F501B5670F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27392" y="3882136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36C15449-A445-41A6-EAD9-37446450CC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8862264" y="3072704"/>
            <a:ext cx="1783080" cy="512064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6B7327B-EA3B-790D-AB08-0ED1D2FB401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35230" y="2437196"/>
            <a:ext cx="1796654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120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070F102-837A-486A-0CD4-E957B66B87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931920"/>
            <a:ext cx="5470497" cy="29260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19FAF77-1797-C11F-A1A9-B351E30B37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08215" y="0"/>
            <a:ext cx="4983785" cy="22768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438400"/>
            <a:ext cx="5157787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2871216"/>
            <a:ext cx="5157787" cy="3247462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438400"/>
            <a:ext cx="5183188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800" y="2871216"/>
            <a:ext cx="5183188" cy="3247462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E1E66A3-7FD1-08A5-8B20-36C5331DCF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53650" y="4014216"/>
            <a:ext cx="5738350" cy="28437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64B067-71A6-CB30-BD46-5499FAAE00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5458968" cy="29199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438400"/>
            <a:ext cx="3419856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2871216"/>
            <a:ext cx="3419856" cy="2925554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07408" y="2438400"/>
            <a:ext cx="3419856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07408" y="2871216"/>
            <a:ext cx="3419856" cy="2925554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A48939F-0CF9-9CBD-F606-7A4850B910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83880" y="2438400"/>
            <a:ext cx="3419856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693BC756-2B97-9751-B879-03B6F1C405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83880" y="2871216"/>
            <a:ext cx="3419856" cy="2925554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287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5F45936-2436-D9FD-A05D-F3C70F90FD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758530"/>
            <a:ext cx="4700016" cy="30994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F862D5-CF3B-E45B-934F-ACEF42B35B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5148072" cy="343627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16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888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9AFB71-7F33-280E-7877-06F4AFFF06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0B0FF2F-3458-EA78-83DC-46FB2E5CE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anchor="t">
            <a:noAutofit/>
          </a:bodyPr>
          <a:lstStyle>
            <a:lvl1pPr algn="l">
              <a:defRPr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C93615E-193E-5253-6EE0-EC01791E3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3483864"/>
            <a:ext cx="10040112" cy="1280160"/>
          </a:xfrm>
        </p:spPr>
        <p:txBody>
          <a:bodyPr/>
          <a:lstStyle>
            <a:lvl1pPr marL="0" indent="0" algn="l">
              <a:buNone/>
              <a:defRPr sz="2400" b="1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355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BDEDC48-AA67-6FC9-FF0E-CD3CB49A5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4185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54AE8D-13E4-BDDA-7C36-A9E08FD0A0E8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E37136-8479-8CDC-7EEB-030C1A8151EF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C6EFE9-BD9C-6124-823A-BD1C488321D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53473-DF27-C657-627F-ED66976E076B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E020D11E-3FF2-1E7F-038B-4F9534916FEB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60127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3104752"/>
            <a:ext cx="11430000" cy="20922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1" i="0" spc="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1" i="0" spc="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&lt;##&gt;</a:t>
            </a:r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1" r:id="rId4"/>
    <p:sldLayoutId id="2147483662" r:id="rId5"/>
    <p:sldLayoutId id="2147483665" r:id="rId6"/>
    <p:sldLayoutId id="2147483669" r:id="rId7"/>
    <p:sldLayoutId id="2147483658" r:id="rId8"/>
    <p:sldLayoutId id="2147483666" r:id="rId9"/>
    <p:sldLayoutId id="2147483668" r:id="rId10"/>
    <p:sldLayoutId id="2147483670" r:id="rId11"/>
    <p:sldLayoutId id="2147483653" r:id="rId12"/>
    <p:sldLayoutId id="2147483667" r:id="rId13"/>
    <p:sldLayoutId id="2147483661" r:id="rId14"/>
    <p:sldLayoutId id="2147483660" r:id="rId15"/>
    <p:sldLayoutId id="2147483655" r:id="rId16"/>
    <p:sldLayoutId id="2147483659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cap="all" spc="400" baseline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799713-0C3F-B157-4527-4EA4EC3F0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29"/>
            <a:ext cx="12200417" cy="685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F4EFB8-B32B-E305-CA40-1BDEF9E3C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4547248" cy="4416552"/>
          </a:xfrm>
        </p:spPr>
        <p:txBody>
          <a:bodyPr/>
          <a:lstStyle/>
          <a:p>
            <a:pPr algn="l"/>
            <a:r>
              <a:rPr lang="en-US" sz="4000" dirty="0"/>
              <a:t>AGENDA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640A05-A075-B6F7-8485-592305845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Waste Segregation Using Deep Learning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02EF04-C343-BFD2-AB41-A620630757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91944" y="1216025"/>
            <a:ext cx="5993504" cy="4416425"/>
          </a:xfrm>
        </p:spPr>
        <p:txBody>
          <a:bodyPr/>
          <a:lstStyle/>
          <a:p>
            <a:r>
              <a:rPr lang="en-US" sz="1600" b="0" dirty="0"/>
              <a:t>Introduction</a:t>
            </a:r>
          </a:p>
          <a:p>
            <a:r>
              <a:rPr lang="en-US" sz="1600" b="0" dirty="0"/>
              <a:t>Problem Context</a:t>
            </a:r>
          </a:p>
          <a:p>
            <a:r>
              <a:rPr lang="en-IN" sz="1600" b="0" dirty="0"/>
              <a:t>Tools and Technologies Used</a:t>
            </a:r>
          </a:p>
          <a:p>
            <a:r>
              <a:rPr lang="en-IN" sz="1600" b="0" dirty="0"/>
              <a:t>Dataset Used</a:t>
            </a:r>
          </a:p>
          <a:p>
            <a:r>
              <a:rPr lang="en-US" sz="1600" b="0" dirty="0"/>
              <a:t>Source Code</a:t>
            </a:r>
          </a:p>
          <a:p>
            <a:r>
              <a:rPr lang="en-IN" sz="1600" b="0" dirty="0"/>
              <a:t>Outputs and Results</a:t>
            </a:r>
          </a:p>
          <a:p>
            <a:r>
              <a:rPr lang="en-IN" sz="1600" b="0" dirty="0"/>
              <a:t>Evaluation Metrics</a:t>
            </a:r>
            <a:endParaRPr lang="en-US" sz="1600" b="0" dirty="0"/>
          </a:p>
          <a:p>
            <a:r>
              <a:rPr lang="en-US" sz="1600" b="0" dirty="0"/>
              <a:t>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003396-B624-401E-50C6-C0BB01AF1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162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775003-C8C2-57FA-C8D5-99577C44F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4547248" cy="4416552"/>
          </a:xfrm>
        </p:spPr>
        <p:txBody>
          <a:bodyPr/>
          <a:lstStyle/>
          <a:p>
            <a:pPr algn="ctr"/>
            <a:r>
              <a:rPr lang="en-US" sz="4000" dirty="0"/>
              <a:t>INTRoDUCTION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B4F370C-18BC-A752-2980-6309F5D7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Waste Segregation Using Deep Learning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D67805-CCBD-8182-540F-93068A90C4E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91944" y="1216025"/>
            <a:ext cx="5993504" cy="441642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dirty="0"/>
              <a:t>Waste management is a major challenge due to improper waste segregation and inefficient manual sorting. This project develops an AI-based garbage classification system using MobileNetV2 to classify waste images into multiple categories. The system provides confidence-based predictions and recycling advice, integrated with a Flask API and a Streamlit dashboard for real-time interaction. Overall, it highlights the potential of AI in improving efficient and sustainable waste management.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986A75-51DF-087B-EE6E-0899D0826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525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B39BC3-1DB2-EB36-B4F5-81D5725C3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4547248" cy="4416552"/>
          </a:xfrm>
        </p:spPr>
        <p:txBody>
          <a:bodyPr/>
          <a:lstStyle/>
          <a:p>
            <a:pPr algn="l"/>
            <a:r>
              <a:rPr lang="en-US" sz="4000" dirty="0"/>
              <a:t>Problem Context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20A50E1-0D2E-D811-2F66-646B4778F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Waste Segregation Using Deep Learning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94A10F-0A8C-333B-6C47-B4125180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4B2C4F-5344-4FFF-E4AA-A86CBC697E3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91944" y="1216025"/>
            <a:ext cx="5993504" cy="4416425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/>
              <a:t>Improper waste segregation is a major issue affecting the environment and recycling efficiency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/>
              <a:t>Manual sorting of waste is time-consuming and often inaccurate, especially at large scale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/>
              <a:t>Waste images vary due to differences in quality, lighting conditions and background clutter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/>
              <a:t>Certain categories (e.g., paper and cardboard) look very similar.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/>
              <a:t>These factors make classification challenging and require the model to generalize well in real-world conditions</a:t>
            </a:r>
          </a:p>
        </p:txBody>
      </p:sp>
    </p:spTree>
    <p:extLst>
      <p:ext uri="{BB962C8B-B14F-4D97-AF65-F5344CB8AC3E}">
        <p14:creationId xmlns:p14="http://schemas.microsoft.com/office/powerpoint/2010/main" val="3054500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7E16E-2904-AC7E-B3AC-C5E34D821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0C73BC-96FB-95F5-60F0-1A0384428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4691264" cy="4416552"/>
          </a:xfrm>
        </p:spPr>
        <p:txBody>
          <a:bodyPr/>
          <a:lstStyle/>
          <a:p>
            <a:pPr algn="l"/>
            <a:r>
              <a:rPr lang="en-IN" sz="4000" dirty="0"/>
              <a:t>Tools and Technologies Used</a:t>
            </a:r>
            <a:endParaRPr lang="en-US" sz="4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CE5A2B-B1CF-CFD4-76F4-F0466C70E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Waste Segregation Using Deep Learning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02CA77-BB79-6B66-7824-FB3433559E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91944" y="1216025"/>
            <a:ext cx="5993504" cy="4416425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/>
              <a:t>Programming Language: </a:t>
            </a:r>
            <a:r>
              <a:rPr lang="en-IN" b="1" dirty="0"/>
              <a:t>Python</a:t>
            </a:r>
            <a:endParaRPr lang="en-IN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/>
              <a:t>Deep Learning Framework: </a:t>
            </a:r>
            <a:r>
              <a:rPr lang="en-IN" b="1" dirty="0"/>
              <a:t>TensorFlow &amp; Keras</a:t>
            </a:r>
            <a:endParaRPr lang="en-IN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/>
              <a:t>Backend API: </a:t>
            </a:r>
            <a:r>
              <a:rPr lang="en-IN" b="1" dirty="0"/>
              <a:t>Flask</a:t>
            </a:r>
            <a:endParaRPr lang="en-IN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/>
              <a:t>Dashboard: </a:t>
            </a:r>
            <a:r>
              <a:rPr lang="en-IN" b="1" dirty="0"/>
              <a:t>Streamlit</a:t>
            </a:r>
            <a:endParaRPr lang="en-IN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/>
              <a:t>Image Processing: </a:t>
            </a:r>
            <a:r>
              <a:rPr lang="en-IN" b="1" dirty="0"/>
              <a:t>OpenCV, Pillow</a:t>
            </a:r>
            <a:endParaRPr lang="en-IN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/>
              <a:t>Numerical Computation: </a:t>
            </a:r>
            <a:r>
              <a:rPr lang="en-IN" b="1" dirty="0"/>
              <a:t>NumPy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/>
              <a:t>Visualization: </a:t>
            </a:r>
            <a:r>
              <a:rPr lang="en-IN" b="1" dirty="0"/>
              <a:t>Matplotlib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94C13E-9F82-8A0B-96F9-FCFF3819F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544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FE6AB-A008-674D-54F2-FDA1A2224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226CDE-FAB0-A8B9-E218-E09E227DC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4547248" cy="4416552"/>
          </a:xfrm>
        </p:spPr>
        <p:txBody>
          <a:bodyPr/>
          <a:lstStyle/>
          <a:p>
            <a:pPr algn="l"/>
            <a:r>
              <a:rPr lang="en-IN" sz="4000" dirty="0"/>
              <a:t>DataseT </a:t>
            </a:r>
            <a:br>
              <a:rPr lang="en-IN" sz="4000" dirty="0"/>
            </a:br>
            <a:r>
              <a:rPr lang="en-IN" sz="4000" dirty="0"/>
              <a:t>Used</a:t>
            </a:r>
            <a:endParaRPr lang="en-US" sz="4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8C19088-71E7-C034-E972-AE9AE9E53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Waste Segregation Using Deep Learning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189DB9-9E2C-0638-E12B-F76276DF93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91944" y="1216025"/>
            <a:ext cx="5993504" cy="4416425"/>
          </a:xfrm>
        </p:spPr>
        <p:txBody>
          <a:bodyPr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b="0" i="0" u="none" strike="noStrike" kern="1200" cap="none" spc="2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Dataset was sourced from Kaggle and includes over 400 images per category, which were used for training the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0" dirty="0"/>
              <a:t>Dataset used contains images of different types of waste. It includes categories like cardboard, glass, metal, organic, paper, plastic, and trash.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0" dirty="0"/>
              <a:t>Images are resized to 224 × 224 pixels to match model input size.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0" dirty="0"/>
              <a:t>Pixel values are normalized (scaled between 0 and 1) for stable training.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0" dirty="0"/>
              <a:t>Data augmentation like rotation and flipping is applied to improve model performance.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CA0858-8E41-E7FC-2293-449C97CBD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81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078BB-793D-0D31-5C60-6B9F311B1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A2168D-DE2C-6EDC-A1BC-51AEE160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4547248" cy="4416552"/>
          </a:xfrm>
        </p:spPr>
        <p:txBody>
          <a:bodyPr/>
          <a:lstStyle/>
          <a:p>
            <a:pPr algn="l"/>
            <a:r>
              <a:rPr lang="en-US" sz="4000" dirty="0"/>
              <a:t>Source </a:t>
            </a:r>
            <a:br>
              <a:rPr lang="en-US" sz="4000" dirty="0"/>
            </a:br>
            <a:r>
              <a:rPr lang="en-US" sz="4000" dirty="0"/>
              <a:t>Code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15F083-9BE9-9E28-4265-2ECA8A3B0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Waste Segregation Using Deep Learning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270DB9-C5C0-EA82-660F-26B7FC713B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91944" y="1216025"/>
            <a:ext cx="5993504" cy="441642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IN" b="1" dirty="0"/>
              <a:t>Training Script</a:t>
            </a:r>
            <a:endParaRPr lang="en-IN" dirty="0"/>
          </a:p>
          <a:p>
            <a:pPr lvl="2">
              <a:lnSpc>
                <a:spcPct val="100000"/>
              </a:lnSpc>
            </a:pPr>
            <a:r>
              <a:rPr lang="en-IN" dirty="0"/>
              <a:t>Load the dataset and apply data augmentation techniques.</a:t>
            </a:r>
          </a:p>
          <a:p>
            <a:pPr lvl="2">
              <a:lnSpc>
                <a:spcPct val="100000"/>
              </a:lnSpc>
            </a:pPr>
            <a:r>
              <a:rPr lang="en-IN" dirty="0"/>
              <a:t>Train the model using categorical cross-entropy loss.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IN" b="1" dirty="0"/>
              <a:t>Flask API</a:t>
            </a:r>
          </a:p>
          <a:p>
            <a:pPr marL="514350" lvl="1" indent="-285750">
              <a:lnSpc>
                <a:spcPct val="100000"/>
              </a:lnSpc>
            </a:pPr>
            <a:r>
              <a:rPr lang="en-IN" dirty="0"/>
              <a:t>Accept image input from user and process it.</a:t>
            </a:r>
          </a:p>
          <a:p>
            <a:pPr lvl="2">
              <a:lnSpc>
                <a:spcPct val="100000"/>
              </a:lnSpc>
            </a:pPr>
            <a:r>
              <a:rPr lang="en-IN" dirty="0"/>
              <a:t>Return predicted class with confidence score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IN" b="1" dirty="0"/>
              <a:t>Streamlit Dashboard</a:t>
            </a:r>
          </a:p>
          <a:p>
            <a:pPr marL="514350" lvl="1" indent="-285750">
              <a:lnSpc>
                <a:spcPct val="100000"/>
              </a:lnSpc>
            </a:pPr>
            <a:r>
              <a:rPr lang="en-IN" dirty="0"/>
              <a:t>Provide an interactive user interface.</a:t>
            </a:r>
          </a:p>
          <a:p>
            <a:pPr lvl="2">
              <a:lnSpc>
                <a:spcPct val="100000"/>
              </a:lnSpc>
            </a:pPr>
            <a:r>
              <a:rPr lang="en-IN" dirty="0"/>
              <a:t>Allow users to upload images.</a:t>
            </a:r>
          </a:p>
          <a:p>
            <a:pPr lvl="2">
              <a:lnSpc>
                <a:spcPct val="100000"/>
              </a:lnSpc>
            </a:pPr>
            <a:r>
              <a:rPr lang="en-IN" dirty="0"/>
              <a:t>Display prediction results instantly.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1932D5-F944-2CB5-5D9B-22B5AAD29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726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947E7-1C7D-6071-9459-236C85F0E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2C4C93-802C-A7C0-C158-07716275F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4619256" cy="4416552"/>
          </a:xfrm>
        </p:spPr>
        <p:txBody>
          <a:bodyPr/>
          <a:lstStyle/>
          <a:p>
            <a:pPr algn="l"/>
            <a:r>
              <a:rPr lang="en-IN" sz="4000" dirty="0"/>
              <a:t>Outputs </a:t>
            </a:r>
            <a:br>
              <a:rPr lang="en-IN" sz="4000" dirty="0"/>
            </a:br>
            <a:r>
              <a:rPr lang="en-IN" sz="4000" dirty="0"/>
              <a:t>and </a:t>
            </a:r>
            <a:br>
              <a:rPr lang="en-IN" sz="4000" dirty="0"/>
            </a:br>
            <a:r>
              <a:rPr lang="en-IN" sz="4000" dirty="0"/>
              <a:t>Results</a:t>
            </a:r>
            <a:endParaRPr lang="en-US" sz="4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0C595C1-693C-7D38-9D6E-07446E58F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Waste Segregation Using Deep Learning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62B9AD-4573-A95C-4D48-00CDA1430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EE5072A-0A35-4380-02D9-C6E2661A670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447928" y="1216152"/>
            <a:ext cx="5688632" cy="441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008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4F687D-905D-5940-E92B-664E8ED07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4259216" cy="4416552"/>
          </a:xfrm>
        </p:spPr>
        <p:txBody>
          <a:bodyPr/>
          <a:lstStyle/>
          <a:p>
            <a:pPr algn="l"/>
            <a:r>
              <a:rPr lang="en-US" sz="4000" dirty="0"/>
              <a:t>Evaluation Metrics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EF1DD75-A4B1-D99B-2111-46A878B8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Waste Segregation Using Deep Learning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CDA331-68CA-C2AE-0A48-6F7117361A0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91944" y="1216025"/>
            <a:ext cx="5993504" cy="441642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IN" b="1" dirty="0"/>
              <a:t>Accuracy</a:t>
            </a:r>
            <a:r>
              <a:rPr lang="en-IN" dirty="0"/>
              <a:t> → Measures how many predictions are correct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IN" b="1" dirty="0"/>
              <a:t>Prediction Confidence</a:t>
            </a:r>
            <a:r>
              <a:rPr lang="en-IN" dirty="0"/>
              <a:t> → Indicates how sure the model is about its prediction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endParaRPr lang="en-IN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model performs well on distinct materials like glass, plastic, and organic waste.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/>
              <a:t>However, there is some confusion between similar categories like paper and cardboard.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FA6A62-8FBF-887D-0560-47FF98E22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241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CE2EC-269D-71A9-6A1D-988FFCB48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7414A2-DAF2-0132-099A-69EE477E0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3323112" cy="4416552"/>
          </a:xfrm>
        </p:spPr>
        <p:txBody>
          <a:bodyPr/>
          <a:lstStyle/>
          <a:p>
            <a:pPr algn="l"/>
            <a:r>
              <a:rPr lang="en-US" sz="4000" dirty="0"/>
              <a:t>SUMMARY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7E71A2-C0F0-4676-631E-D1163D5B5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Waste Segregation Using Deep Learning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EFD0A9-B2C8-B6F0-8CF2-E57F20C7FE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91944" y="1216025"/>
            <a:ext cx="5993504" cy="4416425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IN" sz="1600" b="0" dirty="0"/>
              <a:t>This project demonstrates how AI can automate waste classification using deep learning, integrated with a backend API and dashboard for real-time predictions. The model performs better with balanced data and clear images, while data augmentation improves generalization despite challenges like noise and lighting variations.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IN" sz="1600" dirty="0"/>
              <a:t>Key Takeaway</a:t>
            </a:r>
            <a:r>
              <a:rPr lang="en-IN" sz="1600" b="0" dirty="0"/>
              <a:t>: Gained practical experience in deep learning, deployment, and solving real-world environmental challenges.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IN" sz="1600" dirty="0"/>
              <a:t>Future Work: </a:t>
            </a:r>
            <a:r>
              <a:rPr lang="en-IN" sz="1600" b="0" dirty="0"/>
              <a:t>Improve accuracy using advanced models like EfficientNet, increase dataset size, and deploy this as a real-world application.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BD99CB-33C8-A084-BF27-DCD5120F6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582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2896" y="2290064"/>
            <a:ext cx="10040112" cy="2387600"/>
          </a:xfrm>
        </p:spPr>
        <p:txBody>
          <a:bodyPr anchor="t">
            <a:noAutofit/>
          </a:bodyPr>
          <a:lstStyle/>
          <a:p>
            <a:pPr algn="ctr"/>
            <a:r>
              <a:rPr lang="en-US" sz="4800" spc="300" dirty="0">
                <a:ln w="28575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3483864"/>
            <a:ext cx="10040112" cy="737224"/>
          </a:xfrm>
        </p:spPr>
        <p:txBody>
          <a:bodyPr anchor="t">
            <a:normAutofit/>
          </a:bodyPr>
          <a:lstStyle/>
          <a:p>
            <a:pPr algn="ctr"/>
            <a:r>
              <a:rPr lang="en-US" sz="2000" b="0" dirty="0"/>
              <a:t>https://github.com/dibyardash/Waste-Segregation-using-Deep-Learning.git</a:t>
            </a:r>
          </a:p>
        </p:txBody>
      </p:sp>
    </p:spTree>
    <p:extLst>
      <p:ext uri="{BB962C8B-B14F-4D97-AF65-F5344CB8AC3E}">
        <p14:creationId xmlns:p14="http://schemas.microsoft.com/office/powerpoint/2010/main" val="627731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roplet">
      <a:dk1>
        <a:srgbClr val="000000"/>
      </a:dk1>
      <a:lt1>
        <a:srgbClr val="FFFFFF"/>
      </a:lt1>
      <a:dk2>
        <a:srgbClr val="0065A8"/>
      </a:dk2>
      <a:lt2>
        <a:srgbClr val="E7E6E6"/>
      </a:lt2>
      <a:accent1>
        <a:srgbClr val="FDCFFD"/>
      </a:accent1>
      <a:accent2>
        <a:srgbClr val="B6DFFF"/>
      </a:accent2>
      <a:accent3>
        <a:srgbClr val="8AE3A8"/>
      </a:accent3>
      <a:accent4>
        <a:srgbClr val="A69BFB"/>
      </a:accent4>
      <a:accent5>
        <a:srgbClr val="B5C3FF"/>
      </a:accent5>
      <a:accent6>
        <a:srgbClr val="73E9C4"/>
      </a:accent6>
      <a:hlink>
        <a:srgbClr val="0563C1"/>
      </a:hlink>
      <a:folHlink>
        <a:srgbClr val="954F72"/>
      </a:folHlink>
    </a:clrScheme>
    <a:fontScheme name="Custom 2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-Design-TM34316244_Win32_SD_v9" id="{4C371580-6163-46D2-96AA-0DCC330A1B9A}" vid="{FC8D8AFF-D381-4C29-B9DC-A81BA0CD1B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4FA603-F875-4A03-93C9-402691CFAD8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BCCC5ED-FDC5-47FC-8E7E-D334979F14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421B937-7172-47A3-B8EF-010B04CBBB9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Droplet design</Template>
  <TotalTime>207</TotalTime>
  <Words>567</Words>
  <Application>Microsoft Office PowerPoint</Application>
  <PresentationFormat>Widescreen</PresentationFormat>
  <Paragraphs>74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AGENDA</vt:lpstr>
      <vt:lpstr>INTRoDUCTION</vt:lpstr>
      <vt:lpstr>Problem Context</vt:lpstr>
      <vt:lpstr>Tools and Technologies Used</vt:lpstr>
      <vt:lpstr>DataseT  Used</vt:lpstr>
      <vt:lpstr>Source  Code</vt:lpstr>
      <vt:lpstr>Outputs  and  Results</vt:lpstr>
      <vt:lpstr>Evaluation Metrics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kumar dash</dc:creator>
  <cp:lastModifiedBy>Dibya Dash</cp:lastModifiedBy>
  <cp:revision>3</cp:revision>
  <dcterms:created xsi:type="dcterms:W3CDTF">2026-06-13T13:45:21Z</dcterms:created>
  <dcterms:modified xsi:type="dcterms:W3CDTF">2026-06-13T21:15:15Z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